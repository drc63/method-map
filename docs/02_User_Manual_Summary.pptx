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160520"/>
            <a:ext cx="12191695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>
                <a:solidFill>
                  <a:srgbClr val="C9A227"/>
                </a:solidFill>
                <a:latin typeface="Segoe UI Semibold"/>
              </a:rPr>
              <a:t>P3MAI  ·  METHOD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377440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4000" b="1">
                <a:solidFill>
                  <a:srgbClr val="FFFFFF"/>
                </a:solidFill>
                <a:latin typeface="Segoe UI Semibold"/>
              </a:rPr>
              <a:t>User Manual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>
                <a:solidFill>
                  <a:srgbClr val="C8D2E0"/>
                </a:solidFill>
                <a:latin typeface="Segoe UI"/>
              </a:rPr>
              <a:t>Using the P3MAI Method Map — summary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>
                <a:solidFill>
                  <a:srgbClr val="9FB0C4"/>
                </a:solidFill>
                <a:latin typeface="Segoe UI"/>
              </a:rPr>
              <a:t>DOC-02  ·  Summary  ·  v1.0  ·  1 August 2026  ·  OFFICIAL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What the Method Map does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60020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5B6675"/>
                </a:solidFill>
                <a:latin typeface="Segoe UI"/>
              </a:rPr>
              <a:t>A picture of how a method fits together — this deck uses PRINCE2 as the example.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Turns a method's cross-reference into an explorable network — PRINCE2, MSP or SAFe.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See which roles, practices/competencies, and products/artefacts each activity touches.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Tailor engagements, onboard teams, and explain governance visually.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DOC-02  ·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The screen at a glance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55448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B6675"/>
                </a:solidFill>
                <a:latin typeface="Segoe UI"/>
              </a:rPr>
              <a:t>Sidebar · control panel · graph stage · detail panel.</a:t>
            </a:r>
          </a:p>
        </p:txBody>
      </p:sp>
      <p:pic>
        <p:nvPicPr>
          <p:cNvPr id="5" name="Picture 4" descr="ui_explor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0085" y="2057400"/>
            <a:ext cx="7471525" cy="4297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DOC-02  ·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Reading the codes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55448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>
                <a:solidFill>
                  <a:srgbClr val="5B6675"/>
                </a:solidFill>
                <a:latin typeface="Segoe UI"/>
              </a:rPr>
              <a:t>The most important thing to learn — labels on every link.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2103120"/>
          <a:ext cx="1106424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54880"/>
                <a:gridCol w="630936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Where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Codes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Roles / practices / approaches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C Responsible · P Participates · N Assists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Products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I Input · O Output · U Update · A Authorise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DOC-02  ·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The Matrix layout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Processes top, activities beneath, products in a band below.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Roles left, practices right, management approaches along the bottom.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Bigger nodes = more direct responsibilities.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Drag to pan, scroll to zoom, click a node for detail.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DOC-02  ·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The Timeline layout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60020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5B6675"/>
                </a:solidFill>
                <a:latin typeface="Segoe UI"/>
              </a:rPr>
              <a:t>Watch the project unfold over time.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Processes in swimlanes (Directing / Managing / Delivering), left→right in order.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A scrubber walks the lifecycle stage by stage.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Play to auto-advance; Spotlight one stage, or Cumulative to build up.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Reset (gold button) clears the selection and scrubber back to the full view.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DOC-02  ·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Select a node → the detail panel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The node glows gold; its neighbours stay bright, the rest dim.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The panel lists every relationship, with codes and owning process.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A process lists its activities in sequence.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Export a PDF summary or a CSV of just that element.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DOC-02  ·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Project Lifecycle 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The classic PRINCE2 process model as a swimlane.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Time runs left→right: Pre-project → Initiation → Delivery ⟳ → Final.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Click a process to see its activities in sequence; jump into the graph.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DOC-02  ·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Exporting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66928" y="1691640"/>
          <a:ext cx="110642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777240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Export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  <a:latin typeface="Segoe UI Semibold"/>
                        </a:rPr>
                        <a:t>Gives you</a:t>
                      </a:r>
                    </a:p>
                  </a:txBody>
                  <a:tcPr>
                    <a:solidFill>
                      <a:srgbClr val="0B2545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Graph as PNG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A picture of the current view for slides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CSV / Excel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The whole cross-reference as a spreadsheet</a:t>
                      </a:r>
                    </a:p>
                  </a:txBody>
                  <a:tcPr>
                    <a:solidFill>
                      <a:srgbClr val="F6F7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Entity PDF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>
                          <a:solidFill>
                            <a:srgbClr val="1C2B3A"/>
                          </a:solidFill>
                          <a:latin typeface="Segoe UI"/>
                        </a:rPr>
                        <a:t>A branded one-element relationship summary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DOC-02  ·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The other frameworks (same tool)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160020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>
                <a:solidFill>
                  <a:srgbClr val="5B6675"/>
                </a:solidFill>
                <a:latin typeface="Segoe UI"/>
              </a:rPr>
              <a:t>Open each at apps.p3mai.com/prince2 · /msp · /safe · /pmbok.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77440"/>
            <a:ext cx="1097280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MSP 5th ed — programme processes across Identify → Define → Delivery ⟳ → Close; codes C/P/N, CO/CR/RF/RV/UP/IM.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SAFe 6.0 Essential — events across the PI cadence (PI Planning → Iterations ⟳ → IP → Inspect &amp; Adapt); codes F/A/P/I and I/C/U/R/E.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PMBOK 6th ed — the 49-process matrix, 10 Knowledge Areas × 5 Process Groups; codes I/O (inputs/outputs) and T (tools).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Same screens and exports; only the layers and codes differ. The Guide always describes the map you're 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DOC-02  ·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2600" b="1">
                <a:solidFill>
                  <a:srgbClr val="0B2545"/>
                </a:solidFill>
                <a:latin typeface="Segoe UI Semibold"/>
              </a:rPr>
              <a:t>Good to know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07008"/>
            <a:ext cx="2926080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72800" cy="4251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First load after a quiet spell can take up to a minute (the app wakes).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A dashed ring means the data is indicative — verify before formal use.</a:t>
            </a:r>
          </a:p>
          <a:p>
            <a:pPr algn="l">
              <a:spcBef>
                <a:spcPts val="0"/>
              </a:spcBef>
              <a:spcAft>
                <a:spcPts val="1200"/>
              </a:spcAft>
            </a:pPr>
            <a:r>
              <a:rPr sz="1700" b="0">
                <a:solidFill>
                  <a:srgbClr val="1C2B3A"/>
                </a:solidFill>
                <a:latin typeface="Segoe UI"/>
              </a:rPr>
              <a:t>•  Authoring mode (password) lets authorised users correct the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6419088"/>
            <a:ext cx="3657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900" b="1">
                <a:solidFill>
                  <a:srgbClr val="A8841C"/>
                </a:solidFill>
                <a:latin typeface="Segoe UI"/>
              </a:rPr>
              <a:t>OFFICIAL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89920" y="6419088"/>
            <a:ext cx="1097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Bef>
                <a:spcPts val="0"/>
              </a:spcBef>
              <a:spcAft>
                <a:spcPts val="600"/>
              </a:spcAft>
            </a:pPr>
            <a:r>
              <a:rPr sz="900" b="0">
                <a:solidFill>
                  <a:srgbClr val="5B6675"/>
                </a:solidFill>
                <a:latin typeface="Segoe UI"/>
              </a:rPr>
              <a:t>DOC-02  · 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